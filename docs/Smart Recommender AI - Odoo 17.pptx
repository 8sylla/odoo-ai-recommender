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Lato"/>
      <p:regular r:id="rId18"/>
      <p:bold r:id="rId19"/>
      <p:italic r:id="rId20"/>
      <p:boldItalic r:id="rId21"/>
    </p:embeddedFont>
    <p:embeddedFont>
      <p:font typeface="Urbanis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E5434E4-9960-4DCC-A1E2-6A48F41B45AE}">
  <a:tblStyle styleId="{FE5434E4-9960-4DCC-A1E2-6A48F41B45A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22" Type="http://schemas.openxmlformats.org/officeDocument/2006/relationships/font" Target="fonts/Urbanist-regular.fntdata"/><Relationship Id="rId21" Type="http://schemas.openxmlformats.org/officeDocument/2006/relationships/font" Target="fonts/Lato-boldItalic.fntdata"/><Relationship Id="rId24" Type="http://schemas.openxmlformats.org/officeDocument/2006/relationships/font" Target="fonts/Urbanist-italic.fntdata"/><Relationship Id="rId23" Type="http://schemas.openxmlformats.org/officeDocument/2006/relationships/font" Target="fonts/Urbanis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Urbanis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Lato-bold.fntdata"/><Relationship Id="rId18" Type="http://schemas.openxmlformats.org/officeDocument/2006/relationships/font" Target="fonts/La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31.png"/><Relationship Id="rId7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9" Type="http://schemas.openxmlformats.org/officeDocument/2006/relationships/image" Target="../media/image4.png"/><Relationship Id="rId5" Type="http://schemas.openxmlformats.org/officeDocument/2006/relationships/image" Target="../media/image28.png"/><Relationship Id="rId6" Type="http://schemas.openxmlformats.org/officeDocument/2006/relationships/image" Target="../media/image5.png"/><Relationship Id="rId7" Type="http://schemas.openxmlformats.org/officeDocument/2006/relationships/image" Target="../media/image13.png"/><Relationship Id="rId8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3.png"/><Relationship Id="rId5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35459"/>
            <a:ext cx="11049000" cy="378693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895350" y="2106959"/>
            <a:ext cx="1040130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714B67"/>
                </a:solidFill>
                <a:latin typeface="Urbanist"/>
                <a:ea typeface="Urbanist"/>
                <a:cs typeface="Urbanist"/>
                <a:sym typeface="Urbanist"/>
              </a:rPr>
              <a:t>Smart Recommender AI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143000" y="3051720"/>
            <a:ext cx="9906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A09D"/>
                </a:solidFill>
                <a:latin typeface="Lato"/>
                <a:ea typeface="Lato"/>
                <a:cs typeface="Lato"/>
                <a:sym typeface="Lato"/>
              </a:rPr>
              <a:t>Optimisation des Ventes Odoo 17 (Cross-sell &amp; Up-sell)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143000" y="3604422"/>
            <a:ext cx="9906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714B67"/>
                </a:solidFill>
                <a:latin typeface="Lato"/>
                <a:ea typeface="Lato"/>
                <a:cs typeface="Lato"/>
                <a:sym typeface="Lato"/>
              </a:rPr>
              <a:t>Présenté par SYLLA N'FALY</a:t>
            </a:r>
            <a:endParaRPr b="1" sz="1500">
              <a:solidFill>
                <a:srgbClr val="714B67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714B67"/>
                </a:solidFill>
                <a:latin typeface="Lato"/>
                <a:ea typeface="Lato"/>
                <a:cs typeface="Lato"/>
                <a:sym typeface="Lato"/>
              </a:rPr>
              <a:t>Encadré par Pr. Hassan BADIR</a:t>
            </a:r>
            <a:endParaRPr b="1" sz="1500">
              <a:solidFill>
                <a:srgbClr val="714B67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1" sz="1500">
              <a:solidFill>
                <a:srgbClr val="714B6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143000" y="4559373"/>
            <a:ext cx="990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Génie Informatique - Année Académique 2025/2026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295275" y="1833432"/>
            <a:ext cx="11601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714B67"/>
                </a:solidFill>
                <a:latin typeface="Urbanist"/>
                <a:ea typeface="Urbanist"/>
                <a:cs typeface="Urbanist"/>
                <a:sym typeface="Urbanist"/>
              </a:rPr>
              <a:t>Introduction &amp; Problématique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381625" y="2804982"/>
            <a:ext cx="1428900" cy="76200"/>
          </a:xfrm>
          <a:prstGeom prst="rect">
            <a:avLst/>
          </a:prstGeom>
          <a:solidFill>
            <a:srgbClr val="00A09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329100" y="3160026"/>
            <a:ext cx="11533800" cy="18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1950" lvl="0" marL="45720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2100"/>
              <a:buFont typeface="Lato"/>
              <a:buChar char="●"/>
            </a:pPr>
            <a:r>
              <a:rPr lang="en-US" sz="2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Constat : Les ERP sont souvent des registres passifs (Systems of Record).</a:t>
            </a:r>
            <a:endParaRPr sz="2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2100"/>
              <a:buFont typeface="Lato"/>
              <a:buChar char="●"/>
            </a:pPr>
            <a:r>
              <a:rPr lang="en-US" sz="2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Enjeu : Comment exploiter les données historiques pour assister le commercial en temps réel ?</a:t>
            </a:r>
            <a:endParaRPr sz="2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2100"/>
              <a:buFont typeface="Lato"/>
              <a:buChar char="●"/>
            </a:pPr>
            <a:r>
              <a:rPr lang="en-US" sz="2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Manque à gagner : Absence de suggestions automatiques de Cross-selling et Up-selling.</a:t>
            </a:r>
            <a:endParaRPr sz="2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2100"/>
              <a:buFont typeface="Lato"/>
              <a:buChar char="●"/>
            </a:pPr>
            <a:r>
              <a:rPr lang="en-US" sz="2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Défi technique : Intégrer un calcul lourd (Apriori) sans ralentir l'interface de vente.</a:t>
            </a:r>
            <a:endParaRPr sz="2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47937"/>
            <a:ext cx="5334000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47937"/>
            <a:ext cx="5334000" cy="262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714B67"/>
                </a:solidFill>
                <a:latin typeface="Urbanist"/>
                <a:ea typeface="Urbanist"/>
                <a:cs typeface="Urbanist"/>
                <a:sym typeface="Urbanist"/>
              </a:rPr>
              <a:t>LE DÉFI COMMERCIAL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00A09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952500" y="2928937"/>
            <a:ext cx="48006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A09D"/>
                </a:solidFill>
                <a:latin typeface="Urbanist"/>
                <a:ea typeface="Urbanist"/>
                <a:cs typeface="Urbanist"/>
                <a:sym typeface="Urbanist"/>
              </a:rPr>
              <a:t>Problématique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52500" y="3338512"/>
            <a:ext cx="457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Les forces de vente manquent de visibilité sur les corrélations de produits. L'historique transactionnel massif reste inexploité, laissant des opportunités de vente (Cross-selling) inaperçues.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667500" y="2928937"/>
            <a:ext cx="48006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A09D"/>
                </a:solidFill>
                <a:latin typeface="Urbanist"/>
                <a:ea typeface="Urbanist"/>
                <a:cs typeface="Urbanist"/>
                <a:sym typeface="Urbanist"/>
              </a:rPr>
              <a:t>Solution AI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667500" y="3338512"/>
            <a:ext cx="457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Développement d'un module Odoo 17 intégrant un moteur de Machine Learning. Analyse automatique des paires de produits via l'algorithme Apriori pour assister le vendeur en temps réel.</a:t>
            </a:r>
            <a:endParaRPr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2947987"/>
            <a:ext cx="180975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7500" y="2947987"/>
            <a:ext cx="133350" cy="178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714B67"/>
                </a:solidFill>
                <a:latin typeface="Urbanist"/>
                <a:ea typeface="Urbanist"/>
                <a:cs typeface="Urbanist"/>
                <a:sym typeface="Urbanist"/>
              </a:rPr>
              <a:t>OBJECTIFS DU PROJET (SMART)</a:t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00A09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1000125" y="2776537"/>
            <a:ext cx="10620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Stratégique 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Augmenter la valeur du panier moyen par des suggestions pertinentes.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1000125" y="3319462"/>
            <a:ext cx="10620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Performance 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Temps de réponse du moteur IA inférieur à 50ms pour garantir la fluidité.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1000125" y="3862387"/>
            <a:ext cx="10620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Intégration 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Expérience utilisateur transparente via Odoo Web Library (OWL).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1000125" y="4405312"/>
            <a:ext cx="10620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 Mining 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Analyse rigoureuse de l'historique (Support, Confiance, Lift).</a:t>
            </a:r>
            <a:endParaRPr/>
          </a:p>
        </p:txBody>
      </p:sp>
      <p:pic>
        <p:nvPicPr>
          <p:cNvPr descr="image.png" id="124" name="Google Shape;12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146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575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0048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443412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14587"/>
            <a:ext cx="3492549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14587"/>
            <a:ext cx="3492549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14587"/>
            <a:ext cx="3492549" cy="28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714B67"/>
                </a:solidFill>
                <a:latin typeface="Urbanist"/>
                <a:ea typeface="Urbanist"/>
                <a:cs typeface="Urbanist"/>
                <a:sym typeface="Urbanist"/>
              </a:rPr>
              <a:t>STACK TECHNIQUE (ENVIRONNEMENT 2026)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00A09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794225" y="3443287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ERP &amp; CRM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66775" y="3910012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Odoo 17.0 Community Edition. Utilisation de l'ORM, XML et le framework OWL pour le frontend.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4572524" y="3443287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Intelligence Artificielle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4645074" y="3910012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Python 3.11, Pandas pour la data-manipulation et Mlxtend pour l'algorithme Apriori.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8350824" y="3443287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Infrastructure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8423374" y="3910012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Conteneurisation via Docker. Base de données PostgreSQL 15 isolée pour la stabilité.</a:t>
            </a:r>
            <a:endParaRPr/>
          </a:p>
        </p:txBody>
      </p:sp>
      <p:pic>
        <p:nvPicPr>
          <p:cNvPr descr="image.png" id="144" name="Google Shape;14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60525" y="275748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7574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02849" y="2757487"/>
            <a:ext cx="3429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38275"/>
            <a:ext cx="11049000" cy="48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714B67"/>
                </a:solidFill>
                <a:latin typeface="Urbanist"/>
                <a:ea typeface="Urbanist"/>
                <a:cs typeface="Urbanist"/>
                <a:sym typeface="Urbanist"/>
              </a:rPr>
              <a:t>MOTEUR IA: ALGORITHME APRIORI</a:t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00A09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571500" y="571023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Filtrage successif des transactions pour isoler les règles d'association fortes.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714B67"/>
                </a:solidFill>
                <a:latin typeface="Urbanist"/>
                <a:ea typeface="Urbanist"/>
                <a:cs typeface="Urbanist"/>
                <a:sym typeface="Urbanist"/>
              </a:rPr>
              <a:t>PHASE 1: ACTIVATION DU MODULE</a:t>
            </a: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00A09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571500" y="1957387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Installation &amp; Scaffolding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571500" y="2366962"/>
            <a:ext cx="5334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Utilisation de l'outil CLI d'Odoo pour générer la structure standard du module (models, views, security). Installation via le menu "Applications" après configuration du fichier __manifest__.py.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1000125" y="3776662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Structure GitHub conforme OCA.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1000125" y="431958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Chargement des dépendances Python.</a:t>
            </a:r>
            <a:endParaRPr/>
          </a:p>
        </p:txBody>
      </p:sp>
      <p:pic>
        <p:nvPicPr>
          <p:cNvPr descr="image.png" id="167" name="Google Shape;16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147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3576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27950" y="3586150"/>
            <a:ext cx="7586101" cy="297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705350"/>
            <a:ext cx="49530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762000" y="1162050"/>
            <a:ext cx="5000625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714B67"/>
                </a:solidFill>
                <a:latin typeface="Urbanist"/>
                <a:ea typeface="Urbanist"/>
                <a:cs typeface="Urbanist"/>
                <a:sym typeface="Urbanist"/>
              </a:rPr>
              <a:t>PHASE 2: ENTRAÎNEMENT</a:t>
            </a:r>
            <a:endParaRPr/>
          </a:p>
        </p:txBody>
      </p:sp>
      <p:sp>
        <p:nvSpPr>
          <p:cNvPr id="177" name="Google Shape;177;p20"/>
          <p:cNvSpPr/>
          <p:nvPr/>
        </p:nvSpPr>
        <p:spPr>
          <a:xfrm>
            <a:off x="571500" y="1162050"/>
            <a:ext cx="76200" cy="971550"/>
          </a:xfrm>
          <a:prstGeom prst="rect">
            <a:avLst/>
          </a:prstGeom>
          <a:solidFill>
            <a:srgbClr val="00A09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571500" y="27051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Une fois activé, le système nécessite un apprentissage initial sur l'historique des ventes validées.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571500" y="369570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Déclenchement manuel ou via Cron de la méthode action_generate_rules.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762000" y="489585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Executing Market Basket Analysis...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762000" y="520065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A09D"/>
                </a:solidFill>
                <a:latin typeface="Arial"/>
                <a:ea typeface="Arial"/>
                <a:cs typeface="Arial"/>
                <a:sym typeface="Arial"/>
              </a:rPr>
              <a:t>Done: 194 rules found.</a:t>
            </a:r>
            <a:endParaRPr/>
          </a:p>
        </p:txBody>
      </p:sp>
      <p:pic>
        <p:nvPicPr>
          <p:cNvPr id="182" name="Google Shape;18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62625" y="2472214"/>
            <a:ext cx="6429374" cy="3316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62625" y="1197817"/>
            <a:ext cx="6429374" cy="1274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714B67"/>
                </a:solidFill>
                <a:latin typeface="Urbanist"/>
                <a:ea typeface="Urbanist"/>
                <a:cs typeface="Urbanist"/>
                <a:sym typeface="Urbanist"/>
              </a:rPr>
              <a:t>PHASE 3: RÉSULTATS DE L'IA</a:t>
            </a:r>
            <a:endParaRPr/>
          </a:p>
        </p:txBody>
      </p:sp>
      <p:sp>
        <p:nvSpPr>
          <p:cNvPr id="190" name="Google Shape;190;p21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00A09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571500" y="1957387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Base de Connaissance Générée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571500" y="2366962"/>
            <a:ext cx="5334000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Le système peuple le modèle ai.recommendation.rule. Chaque règle identifie une corrélation forte entre un produit source et un produit suggéré.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1000125" y="3490912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194 Règles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générées en &lt; 2s.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1000125" y="403383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Lift &gt; 1 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Corrélation positive confirmée.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1000125" y="4576762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Match Chance 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Score de confiance affiché.</a:t>
            </a:r>
            <a:endParaRPr/>
          </a:p>
        </p:txBody>
      </p:sp>
      <p:pic>
        <p:nvPicPr>
          <p:cNvPr id="196" name="Google Shape;19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2780" y="3429000"/>
            <a:ext cx="5129221" cy="3429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64156" y="0"/>
            <a:ext cx="5027843" cy="3428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2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714B67"/>
                </a:solidFill>
                <a:latin typeface="Urbanist"/>
                <a:ea typeface="Urbanist"/>
                <a:cs typeface="Urbanist"/>
                <a:sym typeface="Urbanist"/>
              </a:rPr>
              <a:t>BILAN DES RÉALISATIONS</a:t>
            </a:r>
            <a:endParaRPr/>
          </a:p>
        </p:txBody>
      </p:sp>
      <p:sp>
        <p:nvSpPr>
          <p:cNvPr id="204" name="Google Shape;204;p22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00A09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571500" y="2533650"/>
            <a:ext cx="11049000" cy="265747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6" name="Google Shape;206;p22"/>
          <p:cNvGraphicFramePr/>
          <p:nvPr/>
        </p:nvGraphicFramePr>
        <p:xfrm>
          <a:off x="571500" y="25336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{FE5434E4-9960-4DCC-A1E2-6A48F41B45AE}</a:tableStyleId>
              </a:tblPr>
              <a:tblGrid>
                <a:gridCol w="2910625"/>
                <a:gridCol w="6197800"/>
                <a:gridCol w="1940575"/>
              </a:tblGrid>
              <a:tr h="53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Objectif SMART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14B6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Résultat Obtenu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14B6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Statut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14B67"/>
                    </a:solidFill>
                  </a:tcPr>
                </a:tc>
              </a:tr>
              <a:tr h="53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Spécifique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Module Odoo autonome avec modèle dédié rules.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A09D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ATTEINT</a:t>
                      </a:r>
                      <a:endParaRPr/>
                    </a:p>
                  </a:txBody>
                  <a:tcPr marT="25400" marB="25400" marR="63500" marL="266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3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Mesurable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Génération de 194 règles avec Lift &gt; 1.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A09D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ATTEINT</a:t>
                      </a:r>
                      <a:endParaRPr/>
                    </a:p>
                  </a:txBody>
                  <a:tcPr marT="25400" marB="25400" marR="63500" marL="266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</a:tr>
              <a:tr h="53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Performance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Temps de réponse de l'interface &lt; 50ms.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A09D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ATTEINT</a:t>
                      </a:r>
                      <a:endParaRPr/>
                    </a:p>
                  </a:txBody>
                  <a:tcPr marT="25400" marB="25400" marR="63500" marL="266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3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UI/UX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Intégration transparente via OWL dans sale.order.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A09D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ATTEINT</a:t>
                      </a:r>
                      <a:endParaRPr/>
                    </a:p>
                  </a:txBody>
                  <a:tcPr marT="25400" marB="25400" marR="63500" marL="266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</a:tr>
            </a:tbl>
          </a:graphicData>
        </a:graphic>
      </p:graphicFrame>
      <p:sp>
        <p:nvSpPr>
          <p:cNvPr id="207" name="Google Shape;207;p22"/>
          <p:cNvSpPr/>
          <p:nvPr/>
        </p:nvSpPr>
        <p:spPr>
          <a:xfrm>
            <a:off x="571500" y="3662362"/>
            <a:ext cx="291063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3482131" y="3662362"/>
            <a:ext cx="619779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9679930" y="3662362"/>
            <a:ext cx="1940569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571500" y="4167187"/>
            <a:ext cx="291063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3482131" y="4167187"/>
            <a:ext cx="619779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9679930" y="4167187"/>
            <a:ext cx="1940569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571500" y="4672012"/>
            <a:ext cx="291063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3482131" y="4672012"/>
            <a:ext cx="619779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9679930" y="4672012"/>
            <a:ext cx="1940569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571500" y="5176837"/>
            <a:ext cx="291063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3482131" y="5176837"/>
            <a:ext cx="619779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9679930" y="5176837"/>
            <a:ext cx="1940569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9" name="Google Shape;21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13380" y="4352925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13380" y="4857750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13380" y="3848100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13380" y="3343275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13380" y="3343275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13380" y="3848100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13380" y="4352925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13380" y="4857750"/>
            <a:ext cx="15240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09019"/>
            <a:ext cx="2430660" cy="11885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80669" y="3109019"/>
            <a:ext cx="2430660" cy="14018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89839" y="3109019"/>
            <a:ext cx="2430660" cy="1188541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714B67"/>
                </a:solidFill>
                <a:latin typeface="Urbanist"/>
                <a:ea typeface="Urbanist"/>
                <a:cs typeface="Urbanist"/>
                <a:sym typeface="Urbanist"/>
              </a:rPr>
              <a:t>ROADMAP &amp; CONCLUSION</a:t>
            </a:r>
            <a:endParaRPr/>
          </a:p>
        </p:txBody>
      </p:sp>
      <p:sp>
        <p:nvSpPr>
          <p:cNvPr id="236" name="Google Shape;236;p23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00A09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571500" y="3581251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 txBox="1"/>
          <p:nvPr/>
        </p:nvSpPr>
        <p:spPr>
          <a:xfrm>
            <a:off x="295275" y="5082331"/>
            <a:ext cx="116014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Merci de votre attention !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571500" y="5491906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Projet Smart Recommender AI</a:t>
            </a:r>
            <a:endParaRPr/>
          </a:p>
        </p:txBody>
      </p:sp>
      <p:sp>
        <p:nvSpPr>
          <p:cNvPr id="240" name="Google Shape;240;p23"/>
          <p:cNvSpPr/>
          <p:nvPr/>
        </p:nvSpPr>
        <p:spPr>
          <a:xfrm>
            <a:off x="1672530" y="2689919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A09D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5981700" y="2689919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714B67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10290869" y="2689919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E9A22E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660752" y="3251894"/>
            <a:ext cx="2252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Q1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714375" y="3594794"/>
            <a:ext cx="214491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V1.5 : Interaction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Bouton "Ajout rapide" au panier.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4969921" y="3251894"/>
            <a:ext cx="2252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Q3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5023544" y="3594794"/>
            <a:ext cx="214491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V2.0 : Big Data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Traitement asynchrone (Celery/RabbitMQ).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9279091" y="3251894"/>
            <a:ext cx="2252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Q4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9332714" y="3594794"/>
            <a:ext cx="214491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V2.1 : Collaborative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Filtrage basé sur le profil client.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